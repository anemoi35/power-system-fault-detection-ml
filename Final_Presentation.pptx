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018220-98C1-4ABF-BF84-E24F2943F891}" v="3" dt="2026-05-11T17:45:07.7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an Kayalık" userId="65d0aa6e25778a92" providerId="LiveId" clId="{1ADB09B9-E652-47CE-B6B6-DD1A514936BF}"/>
    <pc:docChg chg="undo custSel modSld">
      <pc:chgData name="Kaan Kayalık" userId="65d0aa6e25778a92" providerId="LiveId" clId="{1ADB09B9-E652-47CE-B6B6-DD1A514936BF}" dt="2026-05-12T11:56:43.935" v="181" actId="20577"/>
      <pc:docMkLst>
        <pc:docMk/>
      </pc:docMkLst>
      <pc:sldChg chg="modSp mod">
        <pc:chgData name="Kaan Kayalık" userId="65d0aa6e25778a92" providerId="LiveId" clId="{1ADB09B9-E652-47CE-B6B6-DD1A514936BF}" dt="2026-05-11T17:38:17.616" v="29" actId="14100"/>
        <pc:sldMkLst>
          <pc:docMk/>
          <pc:sldMk cId="0" sldId="257"/>
        </pc:sldMkLst>
        <pc:spChg chg="mod">
          <ac:chgData name="Kaan Kayalık" userId="65d0aa6e25778a92" providerId="LiveId" clId="{1ADB09B9-E652-47CE-B6B6-DD1A514936BF}" dt="2026-05-11T17:38:17.616" v="29" actId="14100"/>
          <ac:spMkLst>
            <pc:docMk/>
            <pc:sldMk cId="0" sldId="257"/>
            <ac:spMk id="24" creationId="{00000000-0000-0000-0000-000000000000}"/>
          </ac:spMkLst>
        </pc:spChg>
        <pc:spChg chg="mod">
          <ac:chgData name="Kaan Kayalık" userId="65d0aa6e25778a92" providerId="LiveId" clId="{1ADB09B9-E652-47CE-B6B6-DD1A514936BF}" dt="2026-05-11T17:37:51.237" v="27" actId="1036"/>
          <ac:spMkLst>
            <pc:docMk/>
            <pc:sldMk cId="0" sldId="257"/>
            <ac:spMk id="29" creationId="{00000000-0000-0000-0000-000000000000}"/>
          </ac:spMkLst>
        </pc:spChg>
      </pc:sldChg>
      <pc:sldChg chg="modSp mod">
        <pc:chgData name="Kaan Kayalık" userId="65d0aa6e25778a92" providerId="LiveId" clId="{1ADB09B9-E652-47CE-B6B6-DD1A514936BF}" dt="2026-05-12T11:39:55.705" v="165" actId="20577"/>
        <pc:sldMkLst>
          <pc:docMk/>
          <pc:sldMk cId="0" sldId="261"/>
        </pc:sldMkLst>
        <pc:spChg chg="mod">
          <ac:chgData name="Kaan Kayalık" userId="65d0aa6e25778a92" providerId="LiveId" clId="{1ADB09B9-E652-47CE-B6B6-DD1A514936BF}" dt="2026-05-12T11:31:53.134" v="120" actId="20577"/>
          <ac:spMkLst>
            <pc:docMk/>
            <pc:sldMk cId="0" sldId="261"/>
            <ac:spMk id="13" creationId="{00000000-0000-0000-0000-000000000000}"/>
          </ac:spMkLst>
        </pc:spChg>
        <pc:spChg chg="mod">
          <ac:chgData name="Kaan Kayalık" userId="65d0aa6e25778a92" providerId="LiveId" clId="{1ADB09B9-E652-47CE-B6B6-DD1A514936BF}" dt="2026-05-12T11:39:55.705" v="165" actId="20577"/>
          <ac:spMkLst>
            <pc:docMk/>
            <pc:sldMk cId="0" sldId="261"/>
            <ac:spMk id="27" creationId="{00000000-0000-0000-0000-000000000000}"/>
          </ac:spMkLst>
        </pc:spChg>
      </pc:sldChg>
      <pc:sldChg chg="modSp mod">
        <pc:chgData name="Kaan Kayalık" userId="65d0aa6e25778a92" providerId="LiveId" clId="{1ADB09B9-E652-47CE-B6B6-DD1A514936BF}" dt="2026-05-11T17:40:11.013" v="40" actId="1035"/>
        <pc:sldMkLst>
          <pc:docMk/>
          <pc:sldMk cId="0" sldId="262"/>
        </pc:sldMkLst>
        <pc:spChg chg="mod">
          <ac:chgData name="Kaan Kayalık" userId="65d0aa6e25778a92" providerId="LiveId" clId="{1ADB09B9-E652-47CE-B6B6-DD1A514936BF}" dt="2026-05-11T17:40:11.013" v="40" actId="1035"/>
          <ac:spMkLst>
            <pc:docMk/>
            <pc:sldMk cId="0" sldId="262"/>
            <ac:spMk id="20" creationId="{00000000-0000-0000-0000-000000000000}"/>
          </ac:spMkLst>
        </pc:spChg>
      </pc:sldChg>
      <pc:sldChg chg="modSp mod">
        <pc:chgData name="Kaan Kayalık" userId="65d0aa6e25778a92" providerId="LiveId" clId="{1ADB09B9-E652-47CE-B6B6-DD1A514936BF}" dt="2026-05-11T17:42:15.883" v="62" actId="20577"/>
        <pc:sldMkLst>
          <pc:docMk/>
          <pc:sldMk cId="0" sldId="263"/>
        </pc:sldMkLst>
        <pc:spChg chg="mod">
          <ac:chgData name="Kaan Kayalık" userId="65d0aa6e25778a92" providerId="LiveId" clId="{1ADB09B9-E652-47CE-B6B6-DD1A514936BF}" dt="2026-05-11T17:42:15.883" v="62" actId="20577"/>
          <ac:spMkLst>
            <pc:docMk/>
            <pc:sldMk cId="0" sldId="263"/>
            <ac:spMk id="19" creationId="{00000000-0000-0000-0000-000000000000}"/>
          </ac:spMkLst>
        </pc:spChg>
      </pc:sldChg>
      <pc:sldChg chg="modSp mod">
        <pc:chgData name="Kaan Kayalık" userId="65d0aa6e25778a92" providerId="LiveId" clId="{1ADB09B9-E652-47CE-B6B6-DD1A514936BF}" dt="2026-05-12T11:56:43.935" v="181" actId="20577"/>
        <pc:sldMkLst>
          <pc:docMk/>
          <pc:sldMk cId="0" sldId="264"/>
        </pc:sldMkLst>
        <pc:spChg chg="mod">
          <ac:chgData name="Kaan Kayalık" userId="65d0aa6e25778a92" providerId="LiveId" clId="{1ADB09B9-E652-47CE-B6B6-DD1A514936BF}" dt="2026-05-12T11:56:43.935" v="181" actId="20577"/>
          <ac:spMkLst>
            <pc:docMk/>
            <pc:sldMk cId="0" sldId="264"/>
            <ac:spMk id="22" creationId="{00000000-0000-0000-0000-000000000000}"/>
          </ac:spMkLst>
        </pc:spChg>
      </pc:sldChg>
      <pc:sldChg chg="modSp mod">
        <pc:chgData name="Kaan Kayalık" userId="65d0aa6e25778a92" providerId="LiveId" clId="{1ADB09B9-E652-47CE-B6B6-DD1A514936BF}" dt="2026-05-11T18:02:07.502" v="102" actId="20577"/>
        <pc:sldMkLst>
          <pc:docMk/>
          <pc:sldMk cId="0" sldId="265"/>
        </pc:sldMkLst>
        <pc:spChg chg="mod">
          <ac:chgData name="Kaan Kayalık" userId="65d0aa6e25778a92" providerId="LiveId" clId="{1ADB09B9-E652-47CE-B6B6-DD1A514936BF}" dt="2026-05-11T18:01:47.976" v="67" actId="1076"/>
          <ac:spMkLst>
            <pc:docMk/>
            <pc:sldMk cId="0" sldId="265"/>
            <ac:spMk id="6" creationId="{00000000-0000-0000-0000-000000000000}"/>
          </ac:spMkLst>
        </pc:spChg>
        <pc:spChg chg="mod">
          <ac:chgData name="Kaan Kayalık" userId="65d0aa6e25778a92" providerId="LiveId" clId="{1ADB09B9-E652-47CE-B6B6-DD1A514936BF}" dt="2026-05-11T17:37:28.431" v="18" actId="1035"/>
          <ac:spMkLst>
            <pc:docMk/>
            <pc:sldMk cId="0" sldId="265"/>
            <ac:spMk id="24" creationId="{00000000-0000-0000-0000-000000000000}"/>
          </ac:spMkLst>
        </pc:spChg>
        <pc:spChg chg="mod">
          <ac:chgData name="Kaan Kayalık" userId="65d0aa6e25778a92" providerId="LiveId" clId="{1ADB09B9-E652-47CE-B6B6-DD1A514936BF}" dt="2026-05-11T18:01:56.895" v="84" actId="20577"/>
          <ac:spMkLst>
            <pc:docMk/>
            <pc:sldMk cId="0" sldId="265"/>
            <ac:spMk id="25" creationId="{00000000-0000-0000-0000-000000000000}"/>
          </ac:spMkLst>
        </pc:spChg>
        <pc:spChg chg="mod">
          <ac:chgData name="Kaan Kayalık" userId="65d0aa6e25778a92" providerId="LiveId" clId="{1ADB09B9-E652-47CE-B6B6-DD1A514936BF}" dt="2026-05-11T18:02:07.502" v="102" actId="20577"/>
          <ac:spMkLst>
            <pc:docMk/>
            <pc:sldMk cId="0" sldId="265"/>
            <ac:spMk id="2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39780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3474720" y="0"/>
            <a:ext cx="54864" cy="514350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228600" y="4572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MYZ307E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" y="82296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for EE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" y="123444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Istanbul Technical University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C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2025-2026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1920240"/>
            <a:ext cx="3017520" cy="0"/>
          </a:xfrm>
          <a:prstGeom prst="line">
            <a:avLst/>
          </a:prstGeom>
          <a:noFill/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228600" y="20116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Members: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" y="237744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Muhammed Yasir KAMA  —  040210361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28600" y="283464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Kaan KAYALIK  —  040210443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28600" y="329184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Başar KARADAŞ  —  040210435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28600" y="374904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Mert YİLMAZ  —  040210366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749040" y="7315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 PROJECT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49040" y="1097280"/>
            <a:ext cx="52120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System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Fault Detection &amp;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</a:t>
            </a:r>
            <a:endParaRPr lang="en-US" sz="3400" dirty="0"/>
          </a:p>
        </p:txBody>
      </p:sp>
      <p:sp>
        <p:nvSpPr>
          <p:cNvPr id="16" name="Shape 14"/>
          <p:cNvSpPr/>
          <p:nvPr/>
        </p:nvSpPr>
        <p:spPr>
          <a:xfrm>
            <a:off x="3749040" y="3090672"/>
            <a:ext cx="5120640" cy="0"/>
          </a:xfrm>
          <a:prstGeom prst="line">
            <a:avLst/>
          </a:prstGeom>
          <a:noFill/>
          <a:ln w="254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3749040" y="3182112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Ensemble Machine Learning Methods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749040" y="46634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Sümeye Nur Karahan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Definition &amp; Motivation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" y="56692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 — and why ML?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4206240" cy="3977640"/>
          </a:xfrm>
          <a:prstGeom prst="rect">
            <a:avLst/>
          </a:prstGeom>
          <a:solidFill>
            <a:srgbClr val="F4F6F8"/>
          </a:solidFill>
          <a:ln w="1905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Shape 6"/>
          <p:cNvSpPr/>
          <p:nvPr/>
        </p:nvSpPr>
        <p:spPr>
          <a:xfrm>
            <a:off x="228600" y="914400"/>
            <a:ext cx="4206240" cy="43891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365760" y="978408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The Problem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84048" y="1527048"/>
            <a:ext cx="201168" cy="2011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694944" y="1481328"/>
            <a:ext cx="3611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Transmission line faults (LG, LL, LLG, LLL,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LLLG) cause major outages if undetected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milliseconds.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84048" y="2551176"/>
            <a:ext cx="201168" cy="2011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694944" y="2505456"/>
            <a:ext cx="3611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relay protection uses fixed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thresholds — not adaptive to modern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grid conditions.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84048" y="3575304"/>
            <a:ext cx="201168" cy="2011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694944" y="3529584"/>
            <a:ext cx="3611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3-phase current &amp; voltage signals carry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learnable fault signatures that ML can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 without manual tuning.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663440" y="914400"/>
            <a:ext cx="4251960" cy="3977640"/>
          </a:xfrm>
          <a:prstGeom prst="rect">
            <a:avLst/>
          </a:prstGeom>
          <a:solidFill>
            <a:srgbClr val="F4F6F8"/>
          </a:solidFill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4663440" y="914400"/>
            <a:ext cx="4251960" cy="43891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4800600" y="978408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Two-Stage Approach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800600" y="1481328"/>
            <a:ext cx="397764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4937760" y="15544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 — Detection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37760" y="18745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Binary: Normal vs. Fault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937760" y="217627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Dataset: 12,001 samples  |  54.2% Normal / 45.8% Fault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00600" y="292608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800600" y="3255264"/>
            <a:ext cx="4069080" cy="1569954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4937760" y="332841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 — Classification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37760" y="364845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6-class: Which fault type?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937760" y="395020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Dataset: 7,861 samples  |  6 fault classes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92040" y="4297680"/>
            <a:ext cx="594360" cy="475488"/>
          </a:xfrm>
          <a:prstGeom prst="rect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Text 27"/>
          <p:cNvSpPr/>
          <p:nvPr/>
        </p:nvSpPr>
        <p:spPr>
          <a:xfrm>
            <a:off x="4892040" y="4290646"/>
            <a:ext cx="594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Fault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550408" y="4297680"/>
            <a:ext cx="594360" cy="47548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5550408" y="4297680"/>
            <a:ext cx="594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208776" y="4297680"/>
            <a:ext cx="594360" cy="47548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Text 31"/>
          <p:cNvSpPr/>
          <p:nvPr/>
        </p:nvSpPr>
        <p:spPr>
          <a:xfrm>
            <a:off x="6208776" y="4297680"/>
            <a:ext cx="594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867144" y="4297680"/>
            <a:ext cx="594360" cy="47548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Text 33"/>
          <p:cNvSpPr/>
          <p:nvPr/>
        </p:nvSpPr>
        <p:spPr>
          <a:xfrm>
            <a:off x="6867144" y="4297680"/>
            <a:ext cx="594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LLG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525512" y="4297680"/>
            <a:ext cx="594360" cy="4754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7" name="Text 35"/>
          <p:cNvSpPr/>
          <p:nvPr/>
        </p:nvSpPr>
        <p:spPr>
          <a:xfrm>
            <a:off x="7525512" y="4297680"/>
            <a:ext cx="594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LLL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183880" y="4297680"/>
            <a:ext cx="594360" cy="4754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9" name="Text 37"/>
          <p:cNvSpPr/>
          <p:nvPr/>
        </p:nvSpPr>
        <p:spPr>
          <a:xfrm>
            <a:off x="8183880" y="4297680"/>
            <a:ext cx="594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LLLG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Paper &amp; GitHub Repositories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" y="56692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built upon — and their limitations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8686800" cy="1097280"/>
          </a:xfrm>
          <a:prstGeom prst="rect">
            <a:avLst/>
          </a:prstGeom>
          <a:solidFill>
            <a:srgbClr val="F4F6F8"/>
          </a:solidFill>
          <a:ln w="1905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Shape 6"/>
          <p:cNvSpPr/>
          <p:nvPr/>
        </p:nvSpPr>
        <p:spPr>
          <a:xfrm>
            <a:off x="228600" y="914400"/>
            <a:ext cx="73152" cy="109728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411480" y="9784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 Primary Reference Paper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127101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 Anwar, C. Mu, M. Z. Yousaf et al., "Robust Fault Detection and Classification via Ensemble ML Models" — Scientific Reports, Nature, 2025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11480" y="156362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DOI: 10.1038/s41598-025-86554-2  |  RF-LSTM Tuned KNN ensemble → 99.96% accuracy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28600" y="2148840"/>
            <a:ext cx="4251960" cy="2743200"/>
          </a:xfrm>
          <a:prstGeom prst="rect">
            <a:avLst/>
          </a:prstGeom>
          <a:solidFill>
            <a:srgbClr val="F4F6F8"/>
          </a:solidFill>
          <a:ln w="1905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228600" y="2148840"/>
            <a:ext cx="4251960" cy="40233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365760" y="2194560"/>
            <a:ext cx="3977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Repo 1 — svdeepak99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2615184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github.com/svdeepak99/Machine_Learning-Power_System_Fault_Detection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11480" y="2971800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SVM, Decision Tree, RF, PCA, GMM, MLP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" y="3337560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12,001 samples — binary detection only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4224528"/>
            <a:ext cx="3977640" cy="457200"/>
          </a:xfrm>
          <a:prstGeom prst="rect">
            <a:avLst/>
          </a:prstGeom>
          <a:solidFill>
            <a:srgbClr val="FFF3E0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429768" y="4261104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No classification — no ensemble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2148840"/>
            <a:ext cx="4251960" cy="2743200"/>
          </a:xfrm>
          <a:prstGeom prst="rect">
            <a:avLst/>
          </a:prstGeom>
          <a:solidFill>
            <a:srgbClr val="F4F6F8"/>
          </a:solidFill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Shape 19"/>
          <p:cNvSpPr/>
          <p:nvPr/>
        </p:nvSpPr>
        <p:spPr>
          <a:xfrm>
            <a:off x="4663440" y="2148840"/>
            <a:ext cx="4251960" cy="40233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4800600" y="2194560"/>
            <a:ext cx="3977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Repo 2 — KingArthur000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00600" y="2615184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github.com/KingArthur000/Electrical-Fault-detection-and-classification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46320" y="2971800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MATLAB Simulink dataset, 7,861 valid samples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46320" y="3337560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Detection + classification attempted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00600" y="4224528"/>
            <a:ext cx="3977640" cy="457200"/>
          </a:xfrm>
          <a:prstGeom prst="rect">
            <a:avLst/>
          </a:prstGeom>
          <a:solidFill>
            <a:srgbClr val="FFF3E0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/>
          <p:nvPr/>
        </p:nvSpPr>
        <p:spPr>
          <a:xfrm>
            <a:off x="4864608" y="4261104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Poly. regression for classification — inappropriate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&amp; Preprocessing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" y="56692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values from notebook output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2514600" cy="3977640"/>
          </a:xfrm>
          <a:prstGeom prst="rect">
            <a:avLst/>
          </a:prstGeom>
          <a:solidFill>
            <a:srgbClr val="F4F6F8"/>
          </a:solidFill>
          <a:ln w="1905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Shape 6"/>
          <p:cNvSpPr/>
          <p:nvPr/>
        </p:nvSpPr>
        <p:spPr>
          <a:xfrm>
            <a:off x="228600" y="914400"/>
            <a:ext cx="2514600" cy="40233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320040" y="969264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(x ∈ ℝ⁶)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8328" y="1417320"/>
            <a:ext cx="457200" cy="31089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338328" y="141732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77824" y="144475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A Current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8328" y="1892808"/>
            <a:ext cx="457200" cy="31089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338328" y="1892808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77824" y="192024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B Current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8328" y="2368296"/>
            <a:ext cx="457200" cy="31089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338328" y="2368296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77824" y="239572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C Current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8328" y="2843784"/>
            <a:ext cx="457200" cy="310896"/>
          </a:xfrm>
          <a:prstGeom prst="rect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338328" y="2843784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77824" y="287121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A Voltage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8328" y="3319272"/>
            <a:ext cx="457200" cy="310896"/>
          </a:xfrm>
          <a:prstGeom prst="rect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338328" y="3319272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Vb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77824" y="334670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B Voltage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8328" y="3794760"/>
            <a:ext cx="457200" cy="310896"/>
          </a:xfrm>
          <a:prstGeom prst="rect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338328" y="379476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Vc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77824" y="382219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C Voltage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926080" y="914400"/>
            <a:ext cx="5989320" cy="1755648"/>
          </a:xfrm>
          <a:prstGeom prst="rect">
            <a:avLst/>
          </a:prstGeom>
          <a:solidFill>
            <a:srgbClr val="F4F6F8"/>
          </a:solidFill>
          <a:ln w="1905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Shape 27"/>
          <p:cNvSpPr/>
          <p:nvPr/>
        </p:nvSpPr>
        <p:spPr>
          <a:xfrm>
            <a:off x="2926080" y="914400"/>
            <a:ext cx="5989320" cy="40233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Text 28"/>
          <p:cNvSpPr/>
          <p:nvPr/>
        </p:nvSpPr>
        <p:spPr>
          <a:xfrm>
            <a:off x="3063240" y="969264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1 — Detection  (powerline_dataset.csv)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063240" y="1389888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12,001 samples  •  Binary: 0=Normal, 1=Fault  •  6 features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063240" y="1719072"/>
            <a:ext cx="3072750" cy="201168"/>
          </a:xfrm>
          <a:prstGeom prst="rect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Shape 31"/>
          <p:cNvSpPr/>
          <p:nvPr/>
        </p:nvSpPr>
        <p:spPr>
          <a:xfrm>
            <a:off x="6135990" y="1719072"/>
            <a:ext cx="2596530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4" name="Text 32"/>
          <p:cNvSpPr/>
          <p:nvPr/>
        </p:nvSpPr>
        <p:spPr>
          <a:xfrm>
            <a:off x="3063240" y="1938528"/>
            <a:ext cx="307275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8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54.2% (6505)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135990" y="1938528"/>
            <a:ext cx="259653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Fault 45.8% (5496)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926080" y="2798064"/>
            <a:ext cx="5989320" cy="2093976"/>
          </a:xfrm>
          <a:prstGeom prst="rect">
            <a:avLst/>
          </a:prstGeom>
          <a:solidFill>
            <a:srgbClr val="F4F6F8"/>
          </a:solidFill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7" name="Shape 35"/>
          <p:cNvSpPr/>
          <p:nvPr/>
        </p:nvSpPr>
        <p:spPr>
          <a:xfrm>
            <a:off x="2926080" y="2798064"/>
            <a:ext cx="5989320" cy="40233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8" name="Text 36"/>
          <p:cNvSpPr/>
          <p:nvPr/>
        </p:nvSpPr>
        <p:spPr>
          <a:xfrm>
            <a:off x="3063240" y="2852928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2 — Classification  (classData.csv)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063240" y="3273552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7,861 valid samples  •  6 features  •  Multi-label [G,C,B,A] → 6 classes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3063240" y="3657600"/>
            <a:ext cx="868680" cy="594360"/>
          </a:xfrm>
          <a:prstGeom prst="rect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1" name="Text 39"/>
          <p:cNvSpPr/>
          <p:nvPr/>
        </p:nvSpPr>
        <p:spPr>
          <a:xfrm>
            <a:off x="3063240" y="3657600"/>
            <a:ext cx="868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Fault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2365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014216" y="3657600"/>
            <a:ext cx="868680" cy="5943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3" name="Text 41"/>
          <p:cNvSpPr/>
          <p:nvPr/>
        </p:nvSpPr>
        <p:spPr>
          <a:xfrm>
            <a:off x="4014216" y="3657600"/>
            <a:ext cx="868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1129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965192" y="3657600"/>
            <a:ext cx="868680" cy="5943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5" name="Text 43"/>
          <p:cNvSpPr/>
          <p:nvPr/>
        </p:nvSpPr>
        <p:spPr>
          <a:xfrm>
            <a:off x="4965192" y="3657600"/>
            <a:ext cx="868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1004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916168" y="3657600"/>
            <a:ext cx="868680" cy="5943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7" name="Text 45"/>
          <p:cNvSpPr/>
          <p:nvPr/>
        </p:nvSpPr>
        <p:spPr>
          <a:xfrm>
            <a:off x="5916168" y="3657600"/>
            <a:ext cx="868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LLG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1134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867144" y="3657600"/>
            <a:ext cx="868680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9" name="Text 47"/>
          <p:cNvSpPr/>
          <p:nvPr/>
        </p:nvSpPr>
        <p:spPr>
          <a:xfrm>
            <a:off x="6867144" y="3657600"/>
            <a:ext cx="868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LLL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1096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7818120" y="3657600"/>
            <a:ext cx="868680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1" name="Text 49"/>
          <p:cNvSpPr/>
          <p:nvPr/>
        </p:nvSpPr>
        <p:spPr>
          <a:xfrm>
            <a:off x="7818120" y="3657600"/>
            <a:ext cx="868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LLLG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1133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2926080" y="4389120"/>
            <a:ext cx="5989320" cy="365760"/>
          </a:xfrm>
          <a:prstGeom prst="rect">
            <a:avLst/>
          </a:prstGeom>
          <a:solidFill>
            <a:srgbClr val="E8F4FD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3" name="Text 51"/>
          <p:cNvSpPr/>
          <p:nvPr/>
        </p:nvSpPr>
        <p:spPr>
          <a:xfrm>
            <a:off x="3035808" y="4425696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  StandardScaler (fit on train only)  •  80/20 stratified split  •  PCA: 4 components → 96.9% variance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Contributions (1/2) — Pipeline &amp; Model Expansion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" y="56692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gaps and our solutions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4160520" cy="1188720"/>
          </a:xfrm>
          <a:prstGeom prst="rect">
            <a:avLst/>
          </a:prstGeom>
          <a:solidFill>
            <a:srgbClr val="FFF5F5"/>
          </a:solidFill>
          <a:ln w="1524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365760" y="101498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Baseline Gap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307592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 1: binary detection only —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fault type classification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434840" y="1362456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892040" y="960120"/>
            <a:ext cx="4023360" cy="1188720"/>
          </a:xfrm>
          <a:prstGeom prst="rect">
            <a:avLst/>
          </a:prstGeom>
          <a:solidFill>
            <a:srgbClr val="F0FAF4"/>
          </a:solidFill>
          <a:ln w="15240">
            <a:solidFill>
              <a:srgbClr val="0087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5029200" y="101498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Our Solution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0" y="1307592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Added 6-class classification stage using Dataset 2.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two-stage pipeline: Detection → Classification.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" y="2313432"/>
            <a:ext cx="4160520" cy="1188720"/>
          </a:xfrm>
          <a:prstGeom prst="rect">
            <a:avLst/>
          </a:prstGeom>
          <a:solidFill>
            <a:srgbClr val="FFF5F5"/>
          </a:solidFill>
          <a:ln w="1524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365760" y="236829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Baseline Gap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660904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 1 evaluates 5 models only.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 2 uses polynomial regression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classification — inappropriate.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34840" y="2715768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892040" y="2313432"/>
            <a:ext cx="4023360" cy="1188720"/>
          </a:xfrm>
          <a:prstGeom prst="rect">
            <a:avLst/>
          </a:prstGeom>
          <a:solidFill>
            <a:srgbClr val="F0FAF4"/>
          </a:solidFill>
          <a:ln w="15240">
            <a:solidFill>
              <a:srgbClr val="0087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5029200" y="236829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Our Solution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0" y="2660904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Evaluated 8 classifiers on both tasks: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+KNN, Naive Bayes, Logistic Reg., Gradient Boosting.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Replaced poly. regression with proper classifiers.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28600" y="3666744"/>
            <a:ext cx="4160520" cy="1188720"/>
          </a:xfrm>
          <a:prstGeom prst="rect">
            <a:avLst/>
          </a:prstGeom>
          <a:solidFill>
            <a:srgbClr val="FFF5F5"/>
          </a:solidFill>
          <a:ln w="1524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365760" y="372160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Baseline Gap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4014216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ensemble method in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either repository.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434840" y="4069080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4892040" y="3666744"/>
            <a:ext cx="4023360" cy="1188720"/>
          </a:xfrm>
          <a:prstGeom prst="rect">
            <a:avLst/>
          </a:prstGeom>
          <a:solidFill>
            <a:srgbClr val="F0FAF4"/>
          </a:solidFill>
          <a:ln w="15240">
            <a:solidFill>
              <a:srgbClr val="0087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5029200" y="372160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Our Solution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0" y="4014216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VotingClassifier(RF + SVM + GB, voting='soft')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both detection and classification tasks.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Contributions (2/2) — Deeper Analysis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" y="56692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Analyses not present in either baseline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4160520" cy="1188720"/>
          </a:xfrm>
          <a:prstGeom prst="rect">
            <a:avLst/>
          </a:prstGeom>
          <a:solidFill>
            <a:srgbClr val="FFF5F5"/>
          </a:solidFill>
          <a:ln w="1524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365760" y="101498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Baseline Gap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307592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GMM used with a single fixed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 in Repo 1 — not optimized.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434840" y="1362456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892040" y="960120"/>
            <a:ext cx="4023360" cy="1188720"/>
          </a:xfrm>
          <a:prstGeom prst="rect">
            <a:avLst/>
          </a:prstGeom>
          <a:solidFill>
            <a:srgbClr val="F0FAF4"/>
          </a:solidFill>
          <a:ln w="15240">
            <a:solidFill>
              <a:srgbClr val="0087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5029200" y="101498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Our Result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0" y="1307592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 search over 32 configs (8×4).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Best: n_components=2, cov='full'.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98.08% detection without any fault labels.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" y="2313432"/>
            <a:ext cx="4160520" cy="1188720"/>
          </a:xfrm>
          <a:prstGeom prst="rect">
            <a:avLst/>
          </a:prstGeom>
          <a:solidFill>
            <a:srgbClr val="FFF5F5"/>
          </a:solidFill>
          <a:ln w="1524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365760" y="236829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Baseline Gap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660904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feature importance analysis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either repository.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34840" y="2715768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892040" y="2313432"/>
            <a:ext cx="4023360" cy="1188720"/>
          </a:xfrm>
          <a:prstGeom prst="rect">
            <a:avLst/>
          </a:prstGeom>
          <a:solidFill>
            <a:srgbClr val="F0FAF4"/>
          </a:solidFill>
          <a:ln w="15240">
            <a:solidFill>
              <a:srgbClr val="0087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5029200" y="236829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Our Result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0" y="2660904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Ablation study: removed each feature one-by-one.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has largest impact (−0.17%). Ib removal slightly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improves (+0.04%) — correlated features.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28600" y="3666744"/>
            <a:ext cx="4160520" cy="1188720"/>
          </a:xfrm>
          <a:prstGeom prst="rect">
            <a:avLst/>
          </a:prstGeom>
          <a:solidFill>
            <a:srgbClr val="FFF5F5"/>
          </a:solidFill>
          <a:ln w="1524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365760" y="372160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Baseline Gap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4014216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Single-dataset evaluation —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cross-repository test.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434840" y="4069080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4892040" y="3666744"/>
            <a:ext cx="4023360" cy="1188720"/>
          </a:xfrm>
          <a:prstGeom prst="rect">
            <a:avLst/>
          </a:prstGeom>
          <a:solidFill>
            <a:srgbClr val="F0FAF4"/>
          </a:solidFill>
          <a:ln w="15240">
            <a:solidFill>
              <a:srgbClr val="0087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5029200" y="372160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Our Result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0" y="4014216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 trained on Dataset 1 tested on Dataset 2 binary</a:t>
            </a:r>
            <a:endParaRPr lang="en-US" sz="1100" dirty="0"/>
          </a:p>
          <a:p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99.94% accuracy. 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This suggests strong normal/fault pattern consistency across the two repository datasets.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(1/2) — Fault Detection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" y="56692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Binary: Normal vs. Fault  |  All values from notebook output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3566160" cy="3977640"/>
          </a:xfrm>
          <a:prstGeom prst="rect">
            <a:avLst/>
          </a:prstGeom>
          <a:solidFill>
            <a:srgbClr val="F4F6F8"/>
          </a:solidFill>
          <a:ln w="1905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Shape 6"/>
          <p:cNvSpPr/>
          <p:nvPr/>
        </p:nvSpPr>
        <p:spPr>
          <a:xfrm>
            <a:off x="228600" y="914400"/>
            <a:ext cx="3566160" cy="402336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347472" y="969264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(Repo 1 reproduced)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42646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SVM (RBF)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1700784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~99.8% → 99.58%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206654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Tree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2340864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~99.8% → 99.58%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70662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980944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~99.8% → 99.63%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334670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3621024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~98.0% → 99.5%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398678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4261104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~99.5% → 98.08%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0040" y="4574812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i="1" dirty="0">
                <a:solidFill>
                  <a:srgbClr val="008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Classical supervised baselines are close to reported values; MLP and GMM differ due to configuration and threshold changes.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977640" y="914400"/>
            <a:ext cx="4937760" cy="3977640"/>
          </a:xfrm>
          <a:prstGeom prst="rect">
            <a:avLst/>
          </a:prstGeom>
          <a:solidFill>
            <a:srgbClr val="F4F6F8"/>
          </a:solidFill>
          <a:ln w="1905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Shape 20"/>
          <p:cNvSpPr/>
          <p:nvPr/>
        </p:nvSpPr>
        <p:spPr>
          <a:xfrm>
            <a:off x="3977640" y="914400"/>
            <a:ext cx="4937760" cy="40233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4114800" y="969264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Method — 8 Models + Ensemble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14800" y="1426464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8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Voting Ensemble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355080" y="1481328"/>
            <a:ext cx="2088098" cy="201168"/>
          </a:xfrm>
          <a:prstGeom prst="rect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8470610" y="1426464"/>
            <a:ext cx="777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8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99.75%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114800" y="1773936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Boosting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355080" y="1828800"/>
            <a:ext cx="2083291" cy="2011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Text 27"/>
          <p:cNvSpPr/>
          <p:nvPr/>
        </p:nvSpPr>
        <p:spPr>
          <a:xfrm>
            <a:off x="8465803" y="1773936"/>
            <a:ext cx="777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99.67%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114800" y="2121408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KNN (k=5)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355080" y="2176272"/>
            <a:ext cx="2083291" cy="2011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Text 30"/>
          <p:cNvSpPr/>
          <p:nvPr/>
        </p:nvSpPr>
        <p:spPr>
          <a:xfrm>
            <a:off x="8465803" y="2121408"/>
            <a:ext cx="777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99.67%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114800" y="2468880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355080" y="2523744"/>
            <a:ext cx="2080887" cy="2011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Text 33"/>
          <p:cNvSpPr/>
          <p:nvPr/>
        </p:nvSpPr>
        <p:spPr>
          <a:xfrm>
            <a:off x="8463399" y="2468880"/>
            <a:ext cx="777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99.63%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114800" y="281635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SVM (RBF)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355080" y="2871216"/>
            <a:ext cx="2077883" cy="2011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8" name="Text 36"/>
          <p:cNvSpPr/>
          <p:nvPr/>
        </p:nvSpPr>
        <p:spPr>
          <a:xfrm>
            <a:off x="8460395" y="2816352"/>
            <a:ext cx="777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99.58%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114800" y="3163824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Tree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355080" y="3218688"/>
            <a:ext cx="2077883" cy="2011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1" name="Text 39"/>
          <p:cNvSpPr/>
          <p:nvPr/>
        </p:nvSpPr>
        <p:spPr>
          <a:xfrm>
            <a:off x="8460395" y="3163824"/>
            <a:ext cx="777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99.58%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114800" y="3511296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 (ReLU+Adam)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355080" y="3566160"/>
            <a:ext cx="2073075" cy="2011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4" name="Text 42"/>
          <p:cNvSpPr/>
          <p:nvPr/>
        </p:nvSpPr>
        <p:spPr>
          <a:xfrm>
            <a:off x="8455587" y="3511296"/>
            <a:ext cx="777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99.50%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114800" y="3858768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GMM (unsupervised)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355080" y="3913632"/>
            <a:ext cx="1987749" cy="201168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7" name="Text 45"/>
          <p:cNvSpPr/>
          <p:nvPr/>
        </p:nvSpPr>
        <p:spPr>
          <a:xfrm>
            <a:off x="8370261" y="3858768"/>
            <a:ext cx="777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98.08%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114800" y="4206240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Naive Bayes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355080" y="4261104"/>
            <a:ext cx="1948090" cy="20116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0" name="Text 48"/>
          <p:cNvSpPr/>
          <p:nvPr/>
        </p:nvSpPr>
        <p:spPr>
          <a:xfrm>
            <a:off x="8330602" y="4206240"/>
            <a:ext cx="777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97.42%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114800" y="455371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355080" y="4608576"/>
            <a:ext cx="378562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3" name="Text 51"/>
          <p:cNvSpPr/>
          <p:nvPr/>
        </p:nvSpPr>
        <p:spPr>
          <a:xfrm>
            <a:off x="6761074" y="4553712"/>
            <a:ext cx="777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71.30%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355080" y="1399032"/>
            <a:ext cx="0" cy="3493008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(2/2) — Fault Classification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" y="56692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6-class: No Fault / LG / LL / LLG / LLL / LLLG  |  Notebook output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3566160" cy="3977640"/>
          </a:xfrm>
          <a:prstGeom prst="rect">
            <a:avLst/>
          </a:prstGeom>
          <a:solidFill>
            <a:srgbClr val="F4F6F8"/>
          </a:solidFill>
          <a:ln w="1905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Shape 6"/>
          <p:cNvSpPr/>
          <p:nvPr/>
        </p:nvSpPr>
        <p:spPr>
          <a:xfrm>
            <a:off x="228600" y="914400"/>
            <a:ext cx="3566160" cy="402336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347472" y="969264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(Repo 2 reproduced)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42646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1700784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(on clean repo data: ~99%)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206654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Tree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2340864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(on clean repo data: ~99%)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5760" y="270662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980944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(on clean repo data: ~99%)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5760" y="334670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3621024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(on clean repo data: ~98%)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4069080"/>
            <a:ext cx="3429000" cy="713232"/>
          </a:xfrm>
          <a:prstGeom prst="rect">
            <a:avLst/>
          </a:prstGeom>
          <a:solidFill>
            <a:srgbClr val="FFF3E0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347472" y="4096512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Our data: 7,861 valid samples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</a:t>
            </a:r>
            <a:r>
              <a:rPr lang="tr-TR" sz="95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r>
              <a:rPr lang="en-US" sz="95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/LLG confusion: LLL (F1=0.59) &amp; LLLG (F1=0.59)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Three-phase faults have similar signatures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977640" y="914400"/>
            <a:ext cx="4937760" cy="3977640"/>
          </a:xfrm>
          <a:prstGeom prst="rect">
            <a:avLst/>
          </a:prstGeom>
          <a:solidFill>
            <a:srgbClr val="F4F6F8"/>
          </a:solidFill>
          <a:ln w="1905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Shape 19"/>
          <p:cNvSpPr/>
          <p:nvPr/>
        </p:nvSpPr>
        <p:spPr>
          <a:xfrm>
            <a:off x="3977640" y="914400"/>
            <a:ext cx="4937760" cy="40233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4114800" y="969264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Method — 8 Models + Ensemble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0" y="1426464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8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Random Forest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355080" y="1490472"/>
            <a:ext cx="1793961" cy="219456"/>
          </a:xfrm>
          <a:prstGeom prst="rect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8176473" y="1426464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8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88.24%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114800" y="1819656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Voting Ensemble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355080" y="1883664"/>
            <a:ext cx="1773982" cy="21945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8156494" y="1819656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87.48%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114800" y="2212848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Tree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355080" y="2276856"/>
            <a:ext cx="1728765" cy="21945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8111277" y="2212848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85.76%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114800" y="2606040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 (ReLU+Adam)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355080" y="2670048"/>
            <a:ext cx="1688542" cy="21945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4" name="Text 32"/>
          <p:cNvSpPr/>
          <p:nvPr/>
        </p:nvSpPr>
        <p:spPr>
          <a:xfrm>
            <a:off x="8071054" y="2606040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84.23%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114800" y="2999232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Boosting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355080" y="3063240"/>
            <a:ext cx="1683548" cy="21945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7" name="Text 35"/>
          <p:cNvSpPr/>
          <p:nvPr/>
        </p:nvSpPr>
        <p:spPr>
          <a:xfrm>
            <a:off x="8066060" y="2999232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84.04%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114800" y="3392424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SVM (RBF)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355080" y="3456432"/>
            <a:ext cx="1681970" cy="21945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0" name="Text 38"/>
          <p:cNvSpPr/>
          <p:nvPr/>
        </p:nvSpPr>
        <p:spPr>
          <a:xfrm>
            <a:off x="8064482" y="3392424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83.98%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114800" y="3785616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Naive Bayes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355080" y="3849624"/>
            <a:ext cx="1561567" cy="21945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3" name="Text 41"/>
          <p:cNvSpPr/>
          <p:nvPr/>
        </p:nvSpPr>
        <p:spPr>
          <a:xfrm>
            <a:off x="7944079" y="3785616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79.40%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114800" y="4178808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KNN (k=5)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355080" y="4242816"/>
            <a:ext cx="1558412" cy="21945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6" name="Text 44"/>
          <p:cNvSpPr/>
          <p:nvPr/>
        </p:nvSpPr>
        <p:spPr>
          <a:xfrm>
            <a:off x="7940924" y="4178808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79.28%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114800" y="4572000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355080" y="4636008"/>
            <a:ext cx="375144" cy="21945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9" name="Text 47"/>
          <p:cNvSpPr/>
          <p:nvPr/>
        </p:nvSpPr>
        <p:spPr>
          <a:xfrm>
            <a:off x="6757656" y="4572000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34.27%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355080" y="1399032"/>
            <a:ext cx="0" cy="3493008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&amp; Discussion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" y="56692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 the results look this way?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4251960" cy="1938528"/>
          </a:xfrm>
          <a:prstGeom prst="rect">
            <a:avLst/>
          </a:prstGeom>
          <a:solidFill>
            <a:srgbClr val="F4F6F8"/>
          </a:solidFill>
          <a:ln w="1905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Shape 6"/>
          <p:cNvSpPr/>
          <p:nvPr/>
        </p:nvSpPr>
        <p:spPr>
          <a:xfrm>
            <a:off x="228600" y="960120"/>
            <a:ext cx="4251960" cy="38404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356616" y="1024128"/>
            <a:ext cx="3995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is detection (~99.75%) &gt;&gt; classification (~88%)?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56616" y="1453896"/>
            <a:ext cx="3995928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is binary — the model only needs to separate fault from normal current patterns. Classification must distinguish 6 fault types with similar 3-phase signatures. Confusion matrix confirms: LLL and LLLG are most confused (F1=0.59 each), as both are three-phase events.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8600" y="3063240"/>
            <a:ext cx="4251960" cy="1938528"/>
          </a:xfrm>
          <a:prstGeom prst="rect">
            <a:avLst/>
          </a:prstGeom>
          <a:solidFill>
            <a:srgbClr val="F4F6F8"/>
          </a:solidFill>
          <a:ln w="19050">
            <a:solidFill>
              <a:srgbClr val="0087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Shape 10"/>
          <p:cNvSpPr/>
          <p:nvPr/>
        </p:nvSpPr>
        <p:spPr>
          <a:xfrm>
            <a:off x="228600" y="3063240"/>
            <a:ext cx="4251960" cy="384048"/>
          </a:xfrm>
          <a:prstGeom prst="rect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356616" y="3127248"/>
            <a:ext cx="3995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 Ensemble beat individual models?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56616" y="3557016"/>
            <a:ext cx="3995928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RF, SVM, GB learn via different mechanisms (bagging vs. margin vs. boosting). Their error patterns differ → soft-vote averaging cancels mistakes. Ensemble: 99.75% detection vs. best single model 99.67%.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63440" y="960120"/>
            <a:ext cx="4251960" cy="1938528"/>
          </a:xfrm>
          <a:prstGeom prst="rect">
            <a:avLst/>
          </a:prstGeom>
          <a:solidFill>
            <a:srgbClr val="F4F6F8"/>
          </a:solidFill>
          <a:ln w="1905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Shape 14"/>
          <p:cNvSpPr/>
          <p:nvPr/>
        </p:nvSpPr>
        <p:spPr>
          <a:xfrm>
            <a:off x="4663440" y="960120"/>
            <a:ext cx="4251960" cy="384048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4791456" y="1024128"/>
            <a:ext cx="3995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the ablation study really show?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91456" y="1453896"/>
            <a:ext cx="3995928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Removing Ia drops accuracy by 0.17% — the largest single drop. Removing Ib slightly improves (+0.04%), likely due to feature correlation. Result: current features matter, but all 6 features contribute to the ~99.6% baseline.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3063240"/>
            <a:ext cx="4251960" cy="1938528"/>
          </a:xfrm>
          <a:prstGeom prst="rect">
            <a:avLst/>
          </a:prstGeom>
          <a:solidFill>
            <a:srgbClr val="F4F6F8"/>
          </a:solidFill>
          <a:ln w="1905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Shape 18"/>
          <p:cNvSpPr/>
          <p:nvPr/>
        </p:nvSpPr>
        <p:spPr>
          <a:xfrm>
            <a:off x="4663440" y="3063240"/>
            <a:ext cx="4251960" cy="38404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4791456" y="3127248"/>
            <a:ext cx="3995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is GMM useful at 98.08% with no fault labels?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91456" y="3557016"/>
            <a:ext cx="3995928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GMM trained only on normal samples forms tight clusters in 6D feature space. Fault conditions fall outside these clusters → threshold-based detection. Best config: n=2, cov=</a:t>
            </a:r>
            <a:r>
              <a:rPr lang="en-US" sz="105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'full'. </a:t>
            </a: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for field deployment where fault data is scarce.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 &amp; Future Work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28600" y="868680"/>
            <a:ext cx="4983480" cy="4069080"/>
          </a:xfrm>
          <a:prstGeom prst="rect">
            <a:avLst/>
          </a:prstGeom>
          <a:solidFill>
            <a:srgbClr val="F4F6F8"/>
          </a:solidFill>
          <a:ln w="1905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228600" y="868680"/>
            <a:ext cx="4983480" cy="40233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365760" y="923544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Key Findings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" y="1371600"/>
            <a:ext cx="347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🏆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1389888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Detection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31520" y="1645920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Voting Ensemble (RF+SVM+GB): 99.75%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1947672"/>
            <a:ext cx="347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🔍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1965960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Classification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31520" y="2221992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Forest: 88.24%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" y="2523744"/>
            <a:ext cx="347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🌀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1520" y="2542032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GMM Unsupervised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31520" y="2798064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98.08% detection — zero fault labels needed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" y="3099816"/>
            <a:ext cx="347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📉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" y="3118104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PCA: 4 components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31520" y="3374136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96.9% variance with 33% dimension reduction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" y="3675888"/>
            <a:ext cx="347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⚠️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1520" y="3694176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LLL / LLLG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31520" y="3950208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F1=0.59 — three-phase faults are hardest to classify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0040" y="4230858"/>
            <a:ext cx="347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🔗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31520" y="4171772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Cross-repo </a:t>
            </a:r>
            <a:r>
              <a:rPr lang="tr-TR" sz="1150" b="1" dirty="0" err="1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31520" y="4406702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99.94% — strong consistency across repository datasets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394960" y="868680"/>
            <a:ext cx="3520440" cy="4069080"/>
          </a:xfrm>
          <a:prstGeom prst="rect">
            <a:avLst/>
          </a:prstGeom>
          <a:solidFill>
            <a:srgbClr val="F4F6F8"/>
          </a:solidFill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Shape 26"/>
          <p:cNvSpPr/>
          <p:nvPr/>
        </p:nvSpPr>
        <p:spPr>
          <a:xfrm>
            <a:off x="5394960" y="868680"/>
            <a:ext cx="3520440" cy="40233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Text 27"/>
          <p:cNvSpPr/>
          <p:nvPr/>
        </p:nvSpPr>
        <p:spPr>
          <a:xfrm>
            <a:off x="5532120" y="923544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🔭  Future Work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532120" y="1399032"/>
            <a:ext cx="64008" cy="45720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5669280" y="1417320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Fault localization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669280" y="1664208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 distance on line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532120" y="2057400"/>
            <a:ext cx="64008" cy="45720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4" name="Text 32"/>
          <p:cNvSpPr/>
          <p:nvPr/>
        </p:nvSpPr>
        <p:spPr>
          <a:xfrm>
            <a:off x="5669280" y="2075688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 / Transformer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669280" y="2322576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raw time-series data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532120" y="2715768"/>
            <a:ext cx="64008" cy="45720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7" name="Text 35"/>
          <p:cNvSpPr/>
          <p:nvPr/>
        </p:nvSpPr>
        <p:spPr>
          <a:xfrm>
            <a:off x="5669280" y="2734056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 LLL/LLLG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669280" y="2980944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Confusion with richer features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532120" y="3374136"/>
            <a:ext cx="64008" cy="45720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0" name="Text 38"/>
          <p:cNvSpPr/>
          <p:nvPr/>
        </p:nvSpPr>
        <p:spPr>
          <a:xfrm>
            <a:off x="5669280" y="3392424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field data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669280" y="3639312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Simulink simulation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532120" y="4032504"/>
            <a:ext cx="64008" cy="457200"/>
          </a:xfrm>
          <a:prstGeom prst="rect">
            <a:avLst/>
          </a:prstGeom>
          <a:solidFill>
            <a:srgbClr val="00A8CC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3" name="Text 41"/>
          <p:cNvSpPr/>
          <p:nvPr/>
        </p:nvSpPr>
        <p:spPr>
          <a:xfrm>
            <a:off x="5669280" y="4050792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IEEE benchmark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669280" y="4297680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14/30-bus validation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28600" y="4681728"/>
            <a:ext cx="8686800" cy="292608"/>
          </a:xfrm>
          <a:prstGeom prst="rect">
            <a:avLst/>
          </a:prstGeom>
          <a:solidFill>
            <a:srgbClr val="E8F4FD"/>
          </a:solidFill>
          <a:ln w="12700">
            <a:solidFill>
              <a:srgbClr val="00A8C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6" name="Text 44"/>
          <p:cNvSpPr/>
          <p:nvPr/>
        </p:nvSpPr>
        <p:spPr>
          <a:xfrm>
            <a:off x="347472" y="4709160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Sümeye Nur Karahan  •  MYZ307E Spring 2025-2026  •  M.Y.KAMA · K.KAYALIK · B.KARADAŞ · M.YİLMAZ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1406</Words>
  <Application>Microsoft Office PowerPoint</Application>
  <PresentationFormat>Ekran Gösterisi (16:9)</PresentationFormat>
  <Paragraphs>260</Paragraphs>
  <Slides>10</Slides>
  <Notes>10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1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Kaan Kayalık</cp:lastModifiedBy>
  <cp:revision>1</cp:revision>
  <dcterms:created xsi:type="dcterms:W3CDTF">2026-05-11T17:29:03Z</dcterms:created>
  <dcterms:modified xsi:type="dcterms:W3CDTF">2026-05-12T11:56:48Z</dcterms:modified>
</cp:coreProperties>
</file>