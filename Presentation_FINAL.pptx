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18220-98C1-4ABF-BF84-E24F2943F891}" v="3" dt="2026-05-11T17:45:07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an Kayalık" userId="65d0aa6e25778a92" providerId="LiveId" clId="{1ADB09B9-E652-47CE-B6B6-DD1A514936BF}"/>
    <pc:docChg chg="undo custSel modSld">
      <pc:chgData name="Kaan Kayalık" userId="65d0aa6e25778a92" providerId="LiveId" clId="{1ADB09B9-E652-47CE-B6B6-DD1A514936BF}" dt="2026-05-11T18:02:07.502" v="102" actId="20577"/>
      <pc:docMkLst>
        <pc:docMk/>
      </pc:docMkLst>
      <pc:sldChg chg="modSp mod">
        <pc:chgData name="Kaan Kayalık" userId="65d0aa6e25778a92" providerId="LiveId" clId="{1ADB09B9-E652-47CE-B6B6-DD1A514936BF}" dt="2026-05-11T17:38:17.616" v="29" actId="14100"/>
        <pc:sldMkLst>
          <pc:docMk/>
          <pc:sldMk cId="0" sldId="257"/>
        </pc:sldMkLst>
        <pc:spChg chg="mod">
          <ac:chgData name="Kaan Kayalık" userId="65d0aa6e25778a92" providerId="LiveId" clId="{1ADB09B9-E652-47CE-B6B6-DD1A514936BF}" dt="2026-05-11T17:38:17.616" v="29" actId="14100"/>
          <ac:spMkLst>
            <pc:docMk/>
            <pc:sldMk cId="0" sldId="257"/>
            <ac:spMk id="24" creationId="{00000000-0000-0000-0000-000000000000}"/>
          </ac:spMkLst>
        </pc:spChg>
        <pc:spChg chg="mod">
          <ac:chgData name="Kaan Kayalık" userId="65d0aa6e25778a92" providerId="LiveId" clId="{1ADB09B9-E652-47CE-B6B6-DD1A514936BF}" dt="2026-05-11T17:37:51.237" v="27" actId="1036"/>
          <ac:spMkLst>
            <pc:docMk/>
            <pc:sldMk cId="0" sldId="257"/>
            <ac:spMk id="29" creationId="{00000000-0000-0000-0000-000000000000}"/>
          </ac:spMkLst>
        </pc:spChg>
      </pc:sldChg>
      <pc:sldChg chg="modSp mod">
        <pc:chgData name="Kaan Kayalık" userId="65d0aa6e25778a92" providerId="LiveId" clId="{1ADB09B9-E652-47CE-B6B6-DD1A514936BF}" dt="2026-05-11T17:45:28.198" v="65" actId="20577"/>
        <pc:sldMkLst>
          <pc:docMk/>
          <pc:sldMk cId="0" sldId="261"/>
        </pc:sldMkLst>
        <pc:spChg chg="mod">
          <ac:chgData name="Kaan Kayalık" userId="65d0aa6e25778a92" providerId="LiveId" clId="{1ADB09B9-E652-47CE-B6B6-DD1A514936BF}" dt="2026-05-11T17:45:28.198" v="65" actId="20577"/>
          <ac:spMkLst>
            <pc:docMk/>
            <pc:sldMk cId="0" sldId="261"/>
            <ac:spMk id="27" creationId="{00000000-0000-0000-0000-000000000000}"/>
          </ac:spMkLst>
        </pc:spChg>
      </pc:sldChg>
      <pc:sldChg chg="modSp mod">
        <pc:chgData name="Kaan Kayalık" userId="65d0aa6e25778a92" providerId="LiveId" clId="{1ADB09B9-E652-47CE-B6B6-DD1A514936BF}" dt="2026-05-11T17:40:11.013" v="40" actId="1035"/>
        <pc:sldMkLst>
          <pc:docMk/>
          <pc:sldMk cId="0" sldId="262"/>
        </pc:sldMkLst>
        <pc:spChg chg="mod">
          <ac:chgData name="Kaan Kayalık" userId="65d0aa6e25778a92" providerId="LiveId" clId="{1ADB09B9-E652-47CE-B6B6-DD1A514936BF}" dt="2026-05-11T17:40:11.013" v="40" actId="1035"/>
          <ac:spMkLst>
            <pc:docMk/>
            <pc:sldMk cId="0" sldId="262"/>
            <ac:spMk id="20" creationId="{00000000-0000-0000-0000-000000000000}"/>
          </ac:spMkLst>
        </pc:spChg>
      </pc:sldChg>
      <pc:sldChg chg="modSp mod">
        <pc:chgData name="Kaan Kayalık" userId="65d0aa6e25778a92" providerId="LiveId" clId="{1ADB09B9-E652-47CE-B6B6-DD1A514936BF}" dt="2026-05-11T17:42:15.883" v="62" actId="20577"/>
        <pc:sldMkLst>
          <pc:docMk/>
          <pc:sldMk cId="0" sldId="263"/>
        </pc:sldMkLst>
        <pc:spChg chg="mod">
          <ac:chgData name="Kaan Kayalık" userId="65d0aa6e25778a92" providerId="LiveId" clId="{1ADB09B9-E652-47CE-B6B6-DD1A514936BF}" dt="2026-05-11T17:42:15.883" v="62" actId="20577"/>
          <ac:spMkLst>
            <pc:docMk/>
            <pc:sldMk cId="0" sldId="263"/>
            <ac:spMk id="19" creationId="{00000000-0000-0000-0000-000000000000}"/>
          </ac:spMkLst>
        </pc:spChg>
      </pc:sldChg>
      <pc:sldChg chg="modSp mod">
        <pc:chgData name="Kaan Kayalık" userId="65d0aa6e25778a92" providerId="LiveId" clId="{1ADB09B9-E652-47CE-B6B6-DD1A514936BF}" dt="2026-05-11T18:02:07.502" v="102" actId="20577"/>
        <pc:sldMkLst>
          <pc:docMk/>
          <pc:sldMk cId="0" sldId="265"/>
        </pc:sldMkLst>
        <pc:spChg chg="mod">
          <ac:chgData name="Kaan Kayalık" userId="65d0aa6e25778a92" providerId="LiveId" clId="{1ADB09B9-E652-47CE-B6B6-DD1A514936BF}" dt="2026-05-11T18:01:47.976" v="67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Kaan Kayalık" userId="65d0aa6e25778a92" providerId="LiveId" clId="{1ADB09B9-E652-47CE-B6B6-DD1A514936BF}" dt="2026-05-11T17:37:28.431" v="18" actId="1035"/>
          <ac:spMkLst>
            <pc:docMk/>
            <pc:sldMk cId="0" sldId="265"/>
            <ac:spMk id="24" creationId="{00000000-0000-0000-0000-000000000000}"/>
          </ac:spMkLst>
        </pc:spChg>
        <pc:spChg chg="mod">
          <ac:chgData name="Kaan Kayalık" userId="65d0aa6e25778a92" providerId="LiveId" clId="{1ADB09B9-E652-47CE-B6B6-DD1A514936BF}" dt="2026-05-11T18:01:56.895" v="84" actId="20577"/>
          <ac:spMkLst>
            <pc:docMk/>
            <pc:sldMk cId="0" sldId="265"/>
            <ac:spMk id="25" creationId="{00000000-0000-0000-0000-000000000000}"/>
          </ac:spMkLst>
        </pc:spChg>
        <pc:spChg chg="mod">
          <ac:chgData name="Kaan Kayalık" userId="65d0aa6e25778a92" providerId="LiveId" clId="{1ADB09B9-E652-47CE-B6B6-DD1A514936BF}" dt="2026-05-11T18:02:07.502" v="102" actId="20577"/>
          <ac:spMkLst>
            <pc:docMk/>
            <pc:sldMk cId="0" sldId="265"/>
            <ac:spMk id="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978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MYZ307E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for EE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2344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Istanbul Technical University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2025-2026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3017520" cy="0"/>
          </a:xfrm>
          <a:prstGeom prst="line">
            <a:avLst/>
          </a:prstGeom>
          <a:noFill/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28600" y="2011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3774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Muhammed Yasir KAMA  —  040210361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8600" y="28346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Kaan KAYALIK  —  040210443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" y="32918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Başar KARADAŞ  —  040210435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" y="37490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Mert YİLMAZ  —  040210366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49040" y="731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PROJECT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1097280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System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Detection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3749040" y="3090672"/>
            <a:ext cx="5120640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749040" y="318211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Ensemble Machine Learning Methods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4663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Sümeye Nur Karahan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 &amp; Motivation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— and why ML?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206240" cy="3977640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0624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65760" y="97840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The Problem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1527048"/>
            <a:ext cx="201168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94944" y="1481328"/>
            <a:ext cx="3611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 line faults (LG, LL, LLG, LLL,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LLLG) cause major outages if undetected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milliseconds.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2551176"/>
            <a:ext cx="201168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94944" y="2505456"/>
            <a:ext cx="3611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relay protection uses fixed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— not adaptive to modern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grid conditions.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" y="3575304"/>
            <a:ext cx="201168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94944" y="3529584"/>
            <a:ext cx="3611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3-phase current &amp; voltage signals carry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learnable fault signatures that ML can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without manual tuning.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251960" cy="3977640"/>
          </a:xfrm>
          <a:prstGeom prst="rect">
            <a:avLst/>
          </a:prstGeom>
          <a:solidFill>
            <a:srgbClr val="F4F6F8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4251960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800600" y="97840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Two-Stage Approach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481328"/>
            <a:ext cx="39776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93776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Detection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Binary: Normal vs. Fault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2176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12,001 samples  |  54.2% Normal / 45.8% Fault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9260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00600" y="3255264"/>
            <a:ext cx="4069080" cy="156995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937760" y="33284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Classification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6484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6-class: Which fault type?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37760" y="3950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7,861 samples  |  6 fault classes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4297680"/>
            <a:ext cx="594360" cy="47548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892040" y="4290646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Fault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50408" y="4297680"/>
            <a:ext cx="59436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5550408" y="42976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08776" y="4297680"/>
            <a:ext cx="59436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208776" y="42976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67144" y="4297680"/>
            <a:ext cx="59436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867144" y="42976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25512" y="4297680"/>
            <a:ext cx="59436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7525512" y="42976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83880" y="4297680"/>
            <a:ext cx="59436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8183880" y="42976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LLLG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Paper &amp; GitHub Repositories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upon — and their limitations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8686800" cy="1097280"/>
          </a:xfrm>
          <a:prstGeom prst="rect">
            <a:avLst/>
          </a:prstGeom>
          <a:solidFill>
            <a:srgbClr val="F4F6F8"/>
          </a:solidFill>
          <a:ln w="1905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73152" cy="109728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11480" y="9784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Primary Reference Paper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27101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Anwar, C. Mu, M. Z. Yousaf et al., "Robust Fault Detection and Classification via Ensemble ML Models" — Scientific Reports, Nature, 2025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15636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10.1038/s41598-025-86554-2  |  RF-LSTM Tuned KNN ensemble → 99.96% accuracy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148840"/>
            <a:ext cx="4251960" cy="2743200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228600" y="2148840"/>
            <a:ext cx="425196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65760" y="219456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Repo 1 — svdeepak99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6151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github.com/svdeepak99/Machine_Learning-Power_System_Fault_Detection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9718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SVM, Decision Tree, RF, PCA, GMM, MLP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3375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12,001 samples — binary detection only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224528"/>
            <a:ext cx="397764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29768" y="42611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No classification — no ensemble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148840"/>
            <a:ext cx="4251960" cy="2743200"/>
          </a:xfrm>
          <a:prstGeom prst="rect">
            <a:avLst/>
          </a:prstGeom>
          <a:solidFill>
            <a:srgbClr val="F4F6F8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663440" y="2148840"/>
            <a:ext cx="425196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800600" y="219456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Repo 2 — KingArthur000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6151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github.com/KingArthur000/Electrical-Fault-detection-and-classification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29718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MATLAB Simulink dataset, 7,861 valid samples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3375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Detection + classification attempted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4224528"/>
            <a:ext cx="397764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64608" y="42611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Poly. regression for classification — inappropriate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Preprocessing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values from notebook 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514600" cy="3977640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251460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20040" y="96926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(x ∈ ℝ⁶)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" y="1417320"/>
            <a:ext cx="457200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38328" y="14173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1444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 Current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" y="1892808"/>
            <a:ext cx="457200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38328" y="189280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19202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 Current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" y="2368296"/>
            <a:ext cx="457200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38328" y="236829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" y="2395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C Current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" y="2843784"/>
            <a:ext cx="457200" cy="310896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38328" y="284378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" y="28712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 Voltage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" y="3319272"/>
            <a:ext cx="457200" cy="310896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38328" y="33192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" y="33467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 Voltage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" y="3794760"/>
            <a:ext cx="457200" cy="310896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38328" y="379476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" y="38221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C Voltage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26080" y="914400"/>
            <a:ext cx="5989320" cy="1755648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2926080" y="914400"/>
            <a:ext cx="59893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3063240" y="96926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1 — Detection  (powerline_dataset.csv)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63240" y="138988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12,001 samples  •  Binary: 0=Normal, 1=Fault  •  6 features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63240" y="1719072"/>
            <a:ext cx="3072750" cy="20116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6135990" y="1719072"/>
            <a:ext cx="259653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3063240" y="1938528"/>
            <a:ext cx="30727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54.2% (6505)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35990" y="1938528"/>
            <a:ext cx="25965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45.8% (5496)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2798064"/>
            <a:ext cx="5989320" cy="2093976"/>
          </a:xfrm>
          <a:prstGeom prst="rect">
            <a:avLst/>
          </a:prstGeom>
          <a:solidFill>
            <a:srgbClr val="F4F6F8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2926080" y="2798064"/>
            <a:ext cx="598932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3063240" y="285292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2 — Classification  (classData.csv)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3240" y="327355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7,861 valid samples  •  6 features  •  Multi-label [G,C,B,A] → 6 classes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063240" y="3657600"/>
            <a:ext cx="868680" cy="59436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3063240" y="365760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Fault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2365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014216" y="3657600"/>
            <a:ext cx="86868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4014216" y="365760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1129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65192" y="3657600"/>
            <a:ext cx="86868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4965192" y="365760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1004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16168" y="3657600"/>
            <a:ext cx="86868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5916168" y="365760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1134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67144" y="3657600"/>
            <a:ext cx="86868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6867144" y="365760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1096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818120" y="3657600"/>
            <a:ext cx="86868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7818120" y="365760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LLLG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1133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926080" y="4389120"/>
            <a:ext cx="5989320" cy="3657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3035808" y="442569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StandardScaler (fit on train only)  •  80/20 stratified split  •  PCA: 4 components → 96.9% variance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 (1/2) — Pipeline &amp; Model Expansion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gaps and our solutions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160520" cy="1188720"/>
          </a:xfrm>
          <a:prstGeom prst="rect">
            <a:avLst/>
          </a:prstGeom>
          <a:solidFill>
            <a:srgbClr val="FFF5F5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0759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1: binary detection only 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fault type classification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136245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92040" y="960120"/>
            <a:ext cx="4023360" cy="1188720"/>
          </a:xfrm>
          <a:prstGeom prst="rect">
            <a:avLst/>
          </a:prstGeom>
          <a:solidFill>
            <a:srgbClr val="F0FAF4"/>
          </a:solidFill>
          <a:ln w="1524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029200" y="1014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Our 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30759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6-class classification stage using Dataset 2.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two-stage pipeline: Detection → Classification.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313432"/>
            <a:ext cx="4160520" cy="1188720"/>
          </a:xfrm>
          <a:prstGeom prst="rect">
            <a:avLst/>
          </a:prstGeom>
          <a:solidFill>
            <a:srgbClr val="FFF5F5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65760" y="23682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6090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1 evaluates 5 models only.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2 uses polynomial regression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classification — inappropriate.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715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92040" y="2313432"/>
            <a:ext cx="4023360" cy="1188720"/>
          </a:xfrm>
          <a:prstGeom prst="rect">
            <a:avLst/>
          </a:prstGeom>
          <a:solidFill>
            <a:srgbClr val="F0FAF4"/>
          </a:solidFill>
          <a:ln w="1524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029200" y="23682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Our Solution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66090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8 classifiers on both tasks: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+KNN, Naive Bayes, Logistic Reg., Gradient Boosting.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poly. regression with proper classifiers.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666744"/>
            <a:ext cx="4160520" cy="1188720"/>
          </a:xfrm>
          <a:prstGeom prst="rect">
            <a:avLst/>
          </a:prstGeom>
          <a:solidFill>
            <a:srgbClr val="FFF5F5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65760" y="3721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Gap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014216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ensemble method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repository.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34840" y="40690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892040" y="3666744"/>
            <a:ext cx="4023360" cy="1188720"/>
          </a:xfrm>
          <a:prstGeom prst="rect">
            <a:avLst/>
          </a:prstGeom>
          <a:solidFill>
            <a:srgbClr val="F0FAF4"/>
          </a:solidFill>
          <a:ln w="1524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029200" y="37216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Our Solution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014216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VotingClassifier(RF + SVM + GB, voting='soft')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both detection and classification tasks.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 (2/2) — Deeper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 not present in either baseline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160520" cy="1188720"/>
          </a:xfrm>
          <a:prstGeom prst="rect">
            <a:avLst/>
          </a:prstGeom>
          <a:solidFill>
            <a:srgbClr val="FFF5F5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0759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 used with a single fixed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in Repo 1 — not optimized.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136245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92040" y="960120"/>
            <a:ext cx="4023360" cy="1188720"/>
          </a:xfrm>
          <a:prstGeom prst="rect">
            <a:avLst/>
          </a:prstGeom>
          <a:solidFill>
            <a:srgbClr val="F0FAF4"/>
          </a:solidFill>
          <a:ln w="1524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029200" y="1014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Our Result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30759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 over 32 configs (8×4).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n_components=2, cov='full', threshold=6.9327.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98.08% detection without any fault labels.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313432"/>
            <a:ext cx="4160520" cy="1188720"/>
          </a:xfrm>
          <a:prstGeom prst="rect">
            <a:avLst/>
          </a:prstGeom>
          <a:solidFill>
            <a:srgbClr val="FFF5F5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65760" y="23682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6090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feature importance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either repository.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715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92040" y="2313432"/>
            <a:ext cx="4023360" cy="1188720"/>
          </a:xfrm>
          <a:prstGeom prst="rect">
            <a:avLst/>
          </a:prstGeom>
          <a:solidFill>
            <a:srgbClr val="F0FAF4"/>
          </a:solidFill>
          <a:ln w="1524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029200" y="23682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Our Result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66090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study: removed each feature one-by-one.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has largest impact (−0.17%). Ib removal slightly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(+0.04%) — correlated features.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666744"/>
            <a:ext cx="4160520" cy="1188720"/>
          </a:xfrm>
          <a:prstGeom prst="rect">
            <a:avLst/>
          </a:prstGeom>
          <a:solidFill>
            <a:srgbClr val="FFF5F5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65760" y="3721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Gap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014216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Single-dataset evaluation 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cross-repository test.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34840" y="40690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892040" y="3666744"/>
            <a:ext cx="4023360" cy="1188720"/>
          </a:xfrm>
          <a:prstGeom prst="rect">
            <a:avLst/>
          </a:prstGeom>
          <a:solidFill>
            <a:srgbClr val="F0FAF4"/>
          </a:solidFill>
          <a:ln w="1524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029200" y="37216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Our Result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014216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trained on Dataset 1 tested on Dataset 2 binary</a:t>
            </a:r>
            <a:endParaRPr lang="en-US" sz="1100" dirty="0"/>
          </a:p>
          <a:p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99.94% accuracy.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This suggests strong normal/fault pattern consistency across the two repository datasets, but real-world validation is still </a:t>
            </a:r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required.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(1/2) — Fault Detection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Binary: Normal vs. Fault  |  All values from notebook 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3566160" cy="3977640"/>
          </a:xfrm>
          <a:prstGeom prst="rect">
            <a:avLst/>
          </a:prstGeom>
          <a:solidFill>
            <a:srgbClr val="F4F6F8"/>
          </a:solidFill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3566160" cy="402336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47472" y="96926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(Repo 1 reproduced)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26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(RBF)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70078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~99.8% → 99.58%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0665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3408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~99.8% → 99.58%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7066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9809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~99.8% → 99.63%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62102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~98.0% → 99.5%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9867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2611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~99.5% → 98.08%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457481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Classical supervised baselines are close to reported values; MLP and GMM differ due to configuration and threshold changes.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77640" y="914400"/>
            <a:ext cx="4937760" cy="3977640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3977640" y="914400"/>
            <a:ext cx="493776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114800" y="96926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Method — 8 Models + Ensemble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142646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Voting Ensemble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1481328"/>
            <a:ext cx="2088098" cy="20116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8470610" y="142646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99.75%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177393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1828800"/>
            <a:ext cx="2083291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8465803" y="1773936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99.67%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0" y="212140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(k=5)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55080" y="2176272"/>
            <a:ext cx="2083291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8465803" y="212140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99.67%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0" y="246888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2523744"/>
            <a:ext cx="2080887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8463399" y="246888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99.63%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0" y="281635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(RBF)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55080" y="2871216"/>
            <a:ext cx="2077883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8460395" y="281635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99.58%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0" y="316382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55080" y="3218688"/>
            <a:ext cx="2077883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8460395" y="316382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99.58%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0" y="351129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(ReLU+Adam)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55080" y="3566160"/>
            <a:ext cx="2073075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8455587" y="3511296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99.50%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0" y="385876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 (unsupervised)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55080" y="3913632"/>
            <a:ext cx="1987749" cy="20116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8370261" y="385876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98.08%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114800" y="420624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4261104"/>
            <a:ext cx="194809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8330602" y="420624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97.42%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114800" y="455371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55080" y="4608576"/>
            <a:ext cx="37856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6761074" y="455371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71.30%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55080" y="1399032"/>
            <a:ext cx="0" cy="3493008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(2/2) — Fault Classification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6-class: No Fault / LG / LL / LLG / LLL / LLLG  |  Notebook 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3566160" cy="3977640"/>
          </a:xfrm>
          <a:prstGeom prst="rect">
            <a:avLst/>
          </a:prstGeom>
          <a:solidFill>
            <a:srgbClr val="F4F6F8"/>
          </a:solidFill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3566160" cy="402336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47472" y="96926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(Repo 2 reproduced)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264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7007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 clean repo data: ~99%)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0665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340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 clean repo data: ~99%)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7066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98094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 clean repo data: ~99%)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3467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62102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 clean repo data: ~98%)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069080"/>
            <a:ext cx="3429000" cy="713232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47472" y="40965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Our data: 7,861 valid samples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</a:t>
            </a:r>
            <a:r>
              <a:rPr lang="tr-TR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/LLG confusion: LLL (F1=0.59) &amp; LLLG (F1=0.59)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Three-phase faults have similar signatures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77640" y="914400"/>
            <a:ext cx="4937760" cy="3977640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977640" y="914400"/>
            <a:ext cx="493776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114800" y="96926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Method — 8 Models + Ensemble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142646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Random Forest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1490472"/>
            <a:ext cx="1793961" cy="219456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8176473" y="14264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88.24%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181965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Ensemble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1883664"/>
            <a:ext cx="1773982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8156494" y="181965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87.48%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221284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55080" y="2276856"/>
            <a:ext cx="1728765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8111277" y="221284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26060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(ReLU+Adam)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2670048"/>
            <a:ext cx="1688542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8071054" y="260604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84.23%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0" y="29992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55080" y="3063240"/>
            <a:ext cx="1683548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8066060" y="299923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84.04%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0" y="339242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(RBF)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3456432"/>
            <a:ext cx="1681970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8064482" y="339242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83.98%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378561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55080" y="3849624"/>
            <a:ext cx="1561567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7944079" y="378561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79.40%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0" y="417880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(k=5)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55080" y="4242816"/>
            <a:ext cx="1558412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7940924" y="41788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79.28%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0" y="45720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55080" y="4636008"/>
            <a:ext cx="3751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6757656" y="457200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34.27%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55080" y="1399032"/>
            <a:ext cx="0" cy="3493008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the results look this way?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51960" cy="1938528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5196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56616" y="102412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detection (~99.75%) &gt;&gt; classification (~88%)?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6616" y="1453896"/>
            <a:ext cx="399592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is binary — the model only needs to separate fault from normal current patterns. Classification must distinguish 6 fault types with similar 3-phase signatures. Confusion matrix confirms: LLL and LLLG are most confused (F1=0.59 each), as both are three-phase events.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3063240"/>
            <a:ext cx="4251960" cy="1938528"/>
          </a:xfrm>
          <a:prstGeom prst="rect">
            <a:avLst/>
          </a:prstGeom>
          <a:solidFill>
            <a:srgbClr val="F4F6F8"/>
          </a:solidFill>
          <a:ln w="1905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28600" y="3063240"/>
            <a:ext cx="4251960" cy="38404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56616" y="312724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Ensemble beat individual models?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6616" y="3557016"/>
            <a:ext cx="399592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RF, SVM, GB learn via different mechanisms (bagging vs. margin vs. boosting). Their error patterns differ → soft-vote averaging cancels mistakes. Ensemble: 99.75% detection vs. best single model 99.67%.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4251960" cy="1938528"/>
          </a:xfrm>
          <a:prstGeom prst="rect">
            <a:avLst/>
          </a:prstGeom>
          <a:solidFill>
            <a:srgbClr val="F4F6F8"/>
          </a:solidFill>
          <a:ln w="1905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251960" cy="38404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791456" y="102412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ablation study really show?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91456" y="1453896"/>
            <a:ext cx="399592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Ia drops accuracy by 0.17% — the largest single drop. Removing Ib slightly improves (+0.04%), likely due to feature correlation. Result: current features matter, but all 6 features contribute to the ~99.6% baseline.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251960" cy="1938528"/>
          </a:xfrm>
          <a:prstGeom prst="rect">
            <a:avLst/>
          </a:prstGeom>
          <a:solidFill>
            <a:srgbClr val="F4F6F8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425196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791456" y="312724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GMM useful at 98.08% with no fault labels?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91456" y="3557016"/>
            <a:ext cx="399592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 trained only on normal samples forms tight clusters in 6D feature space. Fault conditions fall outside these clusters → threshold-based detection. Best config: n=2, cov='full', threshold=6.93. Practical for field deployment where fault data is scarce.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Future Work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983480" cy="4069080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498348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65760" y="9235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Key Findings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38988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Detection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Ensemble (RF+SVM+GB): 99.75%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947672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196596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Classification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222199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 88.24%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523744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254203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 Unsupervised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279806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98.08% detection — zero fault labels needed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099816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11810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PCA: 4 components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337413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96.9% variance with 33% dimension reduction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675888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69417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LLL / LLLG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395020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F1=0.59 — three-phase faults are hardest to classify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230858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417177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Cross-repo </a:t>
            </a:r>
            <a:r>
              <a:rPr lang="tr-TR" sz="1150" b="1" dirty="0" err="1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440670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99.94% — strong consistency across repository datasets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868680"/>
            <a:ext cx="3520440" cy="4069080"/>
          </a:xfrm>
          <a:prstGeom prst="rect">
            <a:avLst/>
          </a:prstGeom>
          <a:solidFill>
            <a:srgbClr val="F4F6F8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5394960" y="868680"/>
            <a:ext cx="352044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5532120" y="92354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🔭  Future Work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32120" y="1399032"/>
            <a:ext cx="64008" cy="4572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5669280" y="141732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localization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0" y="166420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distance on line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32120" y="2057400"/>
            <a:ext cx="64008" cy="4572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5669280" y="207568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/ Transformer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232257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raw time-series data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32120" y="2715768"/>
            <a:ext cx="64008" cy="4572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5669280" y="273405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LLL/LLLG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0" y="298094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with richer features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32120" y="3374136"/>
            <a:ext cx="64008" cy="4572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5669280" y="339242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field data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69280" y="36393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Simulink simulation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32120" y="4032504"/>
            <a:ext cx="64008" cy="4572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669280" y="405079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benchmark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69280" y="429768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14/30-bus validation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28600" y="4681728"/>
            <a:ext cx="8686800" cy="292608"/>
          </a:xfrm>
          <a:prstGeom prst="rect">
            <a:avLst/>
          </a:prstGeom>
          <a:solidFill>
            <a:srgbClr val="E8F4FD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347472" y="470916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Sümeye Nur Karahan  •  MYZ307E Spring 2025-2026  •  M.Y.KAMA · K.KAYALIK · B.KARADAŞ · M.YİLMAZ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1421</Words>
  <Application>Microsoft Office PowerPoint</Application>
  <PresentationFormat>Ekran Gösterisi (16:9)</PresentationFormat>
  <Paragraphs>260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Kaan Kayalık</cp:lastModifiedBy>
  <cp:revision>1</cp:revision>
  <dcterms:created xsi:type="dcterms:W3CDTF">2026-05-11T17:29:03Z</dcterms:created>
  <dcterms:modified xsi:type="dcterms:W3CDTF">2026-05-11T18:02:09Z</dcterms:modified>
</cp:coreProperties>
</file>